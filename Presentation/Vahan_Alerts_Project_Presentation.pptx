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dirty="0">
                <a:solidFill>
                  <a:srgbClr val="FFFFFF"/>
                </a:solidFill>
                <a:latin typeface="Calibri"/>
              </a:rPr>
              <a:t>VAHAN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dirty="0">
                <a:solidFill>
                  <a:srgbClr val="C8DCF0"/>
                </a:solidFill>
                <a:latin typeface="Calibri"/>
              </a:rPr>
              <a:t>Vehicle Document and Maintenance Reminder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B4C8DC"/>
                </a:solidFill>
                <a:latin typeface="Calibri"/>
              </a:rPr>
              <a:t>A</a:t>
            </a:r>
            <a:r>
              <a:rPr lang="en-IN" sz="1600" b="0" dirty="0">
                <a:solidFill>
                  <a:srgbClr val="B4C8DC"/>
                </a:solidFill>
                <a:latin typeface="Calibri"/>
              </a:rPr>
              <a:t> </a:t>
            </a:r>
            <a:r>
              <a:rPr sz="1600" b="0" dirty="0">
                <a:solidFill>
                  <a:srgbClr val="B4C8DC"/>
                </a:solidFill>
                <a:latin typeface="Calibri"/>
              </a:rPr>
              <a:t>Web Application for Tracking Vehicle Documents, Maintenance Records, and Expiry Reminders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CA56B-1438-B0EE-98FF-4A73B786EA20}"/>
              </a:ext>
            </a:extLst>
          </p:cNvPr>
          <p:cNvSpPr txBox="1"/>
          <p:nvPr/>
        </p:nvSpPr>
        <p:spPr>
          <a:xfrm>
            <a:off x="4004109" y="5212080"/>
            <a:ext cx="349397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dirty="0">
                <a:solidFill>
                  <a:srgbClr val="FFFFFF"/>
                </a:solidFill>
                <a:latin typeface="Maiandra GD" panose="020E0502030308020204" pitchFamily="34" charset="0"/>
              </a:rPr>
              <a:t>Vaibhav </a:t>
            </a:r>
            <a:r>
              <a:rPr lang="en-IN" sz="2500" dirty="0" err="1">
                <a:solidFill>
                  <a:srgbClr val="FFFFFF"/>
                </a:solidFill>
                <a:latin typeface="Maiandra GD" panose="020E0502030308020204" pitchFamily="34" charset="0"/>
              </a:rPr>
              <a:t>Ghadi</a:t>
            </a:r>
            <a:r>
              <a:rPr lang="en-IN" sz="2500" dirty="0">
                <a:solidFill>
                  <a:srgbClr val="FFFFFF"/>
                </a:solidFill>
                <a:latin typeface="Maiandra GD" panose="020E0502030308020204" pitchFamily="34" charset="0"/>
              </a:rPr>
              <a:t>  2655</a:t>
            </a:r>
          </a:p>
          <a:p>
            <a:pPr algn="ctr"/>
            <a:r>
              <a:rPr lang="en-IN" sz="2500" dirty="0">
                <a:solidFill>
                  <a:srgbClr val="FFFFFF"/>
                </a:solidFill>
                <a:latin typeface="Maiandra GD" panose="020E0502030308020204" pitchFamily="34" charset="0"/>
              </a:rPr>
              <a:t>Vinay Sharma 2659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Why Vahan Alerts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Vehicle owners struggle to track multiple document expiration dates across one or more vehicles:</a:t>
            </a:r>
          </a:p>
          <a:p>
            <a:pPr algn="l"/>
            <a:endParaRPr sz="1600" b="0">
              <a:solidFill>
                <a:srgbClr val="282828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• Insurance, PUC, Registration Certificate (RC), Fitness Certificate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• Permit, Driving Licence</a:t>
            </a:r>
          </a:p>
          <a:p>
            <a:pPr algn="l"/>
            <a:endParaRPr sz="1600" b="0">
              <a:solidFill>
                <a:srgbClr val="282828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Missing a renewal deadline can result in: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• Legal penalties and fines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• Vehicle immobilization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• Lapsed insurance coverage</a:t>
            </a:r>
          </a:p>
          <a:p>
            <a:pPr algn="l"/>
            <a:endParaRPr sz="1600" b="0">
              <a:solidFill>
                <a:srgbClr val="282828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Service history is often maintained informally, making it difficult to track: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• Odometer progression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• Service intervals</a:t>
            </a:r>
          </a:p>
          <a:p>
            <a:pPr algn="l"/>
            <a:r>
              <a:rPr sz="1600" b="0">
                <a:solidFill>
                  <a:srgbClr val="282828"/>
                </a:solidFill>
                <a:latin typeface="Calibri"/>
              </a:rPr>
              <a:t>• Cumulative maintenance costs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Current Approaches Are Inadequate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Calibri"/>
              </a:rPr>
              <a:t>Generic calendar reminders are not vehicle-specific</a:t>
            </a:r>
          </a:p>
          <a:p>
            <a:r>
              <a:rPr sz="1400">
                <a:solidFill>
                  <a:srgbClr val="282828"/>
                </a:solidFill>
                <a:latin typeface="Calibri"/>
              </a:rPr>
              <a:t>Paid fleet-management systems target commercial operators</a:t>
            </a:r>
          </a:p>
          <a:p>
            <a:r>
              <a:rPr sz="1400">
                <a:solidFill>
                  <a:srgbClr val="282828"/>
                </a:solidFill>
                <a:latin typeface="Calibri"/>
              </a:rPr>
              <a:t>Paper-based logs are easily lost or damaged</a:t>
            </a:r>
          </a:p>
          <a:p>
            <a:r>
              <a:rPr sz="1400">
                <a:solidFill>
                  <a:srgbClr val="282828"/>
                </a:solidFill>
                <a:latin typeface="Calibri"/>
              </a:rPr>
              <a:t>No centralized view across multiple vehicles</a:t>
            </a:r>
          </a:p>
          <a:p>
            <a:r>
              <a:rPr sz="1400">
                <a:solidFill>
                  <a:srgbClr val="282828"/>
                </a:solidFill>
                <a:latin typeface="Calibri"/>
              </a:rPr>
              <a:t>No automated expiry status calculation</a:t>
            </a:r>
          </a:p>
          <a:p>
            <a:r>
              <a:rPr sz="1400">
                <a:solidFill>
                  <a:srgbClr val="282828"/>
                </a:solidFill>
                <a:latin typeface="Calibri"/>
              </a:rPr>
              <a:t>No scheduled reminders for upcoming expirations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What the system aims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>
                <a:solidFill>
                  <a:srgbClr val="1F3864"/>
                </a:solidFill>
                <a:latin typeface="Calibri"/>
              </a:rPr>
              <a:t>Key Objectives: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8110"/>
            <a:ext cx="54864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282828"/>
                </a:solidFill>
                <a:latin typeface="Calibri"/>
              </a:rPr>
              <a:t>Secure phone-number-based registration and authentication with </a:t>
            </a:r>
            <a:r>
              <a:rPr sz="1600" dirty="0" err="1">
                <a:solidFill>
                  <a:srgbClr val="282828"/>
                </a:solidFill>
                <a:latin typeface="Calibri"/>
              </a:rPr>
              <a:t>BCrypt</a:t>
            </a:r>
            <a:r>
              <a:rPr sz="1600" dirty="0">
                <a:solidFill>
                  <a:srgbClr val="282828"/>
                </a:solidFill>
                <a:latin typeface="Calibri"/>
              </a:rPr>
              <a:t> password hashing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Owner-scoped vehicle CRUD — no cross-user access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Vehicle document lifecycle management with automatic expiry status calculation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Scheduled in-app reminders at 30, 7, 1, and 0 days before expiry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Chronological maintenance history with odometer sequence validation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In-app notification </a:t>
            </a:r>
            <a:r>
              <a:rPr sz="1600" dirty="0" err="1">
                <a:solidFill>
                  <a:srgbClr val="282828"/>
                </a:solidFill>
                <a:latin typeface="Calibri"/>
              </a:rPr>
              <a:t>centre</a:t>
            </a:r>
            <a:r>
              <a:rPr sz="1600" dirty="0">
                <a:solidFill>
                  <a:srgbClr val="282828"/>
                </a:solidFill>
                <a:latin typeface="Calibri"/>
              </a:rPr>
              <a:t> with read/unread tracking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CSRF protection, session fixation protection, HTTP-only cookies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Health-check endpoint for application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029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>
                <a:solidFill>
                  <a:srgbClr val="1F3864"/>
                </a:solidFill>
                <a:latin typeface="Calibri"/>
              </a:rPr>
              <a:t>Out of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5516"/>
            <a:ext cx="5029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rgbClr val="282828"/>
                </a:solidFill>
                <a:latin typeface="Calibri"/>
              </a:rPr>
              <a:t>No real WhatsApp/email/SMS delivery (consent stored only)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No file upload/download for document attachments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No government database integration (VAHAN, etc.)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No payment gateway or premium calculation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No PWA, mobile app, or OAuth/social login</a:t>
            </a:r>
          </a:p>
          <a:p>
            <a:r>
              <a:rPr sz="1600" dirty="0">
                <a:solidFill>
                  <a:srgbClr val="282828"/>
                </a:solidFill>
                <a:latin typeface="Calibri"/>
              </a:rPr>
              <a:t>Single role (ROLE_USER) — no admin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Proposed Solution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What the system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User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Calibri"/>
              </a:rPr>
              <a:t>Registration, login, WhatsApp consent opt-in/withdrawal, BCrypt password hashing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39"/>
            <a:ext cx="11247120" cy="77724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Vehicle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4027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Calibri"/>
              </a:rPr>
              <a:t>Create, list, view, update, delete — owner-scoped with registration number normalization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Document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089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Calibri"/>
              </a:rPr>
              <a:t>Track insurance, PUC, RC, fitness, permit, DL with expiry status (Expired / Expiring Soon / Valid / No Expiry)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11247120" cy="77724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Reminder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7763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Calibri"/>
              </a:rPr>
              <a:t>Scheduled daily reminders at 09:00 Asia/Kolkata with offsets of 30, 7, 1, and 0 days before expiry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11247120" cy="77724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846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Calibri"/>
              </a:rPr>
              <a:t>In-app notification centre, mark as read, mark all as read, unread count badge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Maintenance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7150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Calibri"/>
              </a:rPr>
              <a:t>Service history with odometer sequence validation, service cost tracking in BigDecimal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Tools and frameworks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Backend &amp;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Java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Programming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Spring Boot 4.1.2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214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Application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54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Spring MVC + Thymeleaf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054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Web layer and server-side rendering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950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Spring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89503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Authentication, CSRF, session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Spring Data JPA + Hibernate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2735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ORM and data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5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H2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65759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Embedded file-based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Database, Build &amp;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Flyway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Schema migration (V1–V7)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21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Jakarta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1214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Bean validation for 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054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BCrypt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5054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Password hashing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88950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Apache Maven 3.9.16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889503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Build and dependency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735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JUnit 5 + MockMvc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2735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Testing framework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6575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Calibri"/>
              </a:rPr>
              <a:t>Spring @Scheduled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5759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  <a:latin typeface="Calibri"/>
              </a:rPr>
              <a:t>Daily reminder job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Layered Spring Boot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687568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79" y="1280160"/>
            <a:ext cx="4206240" cy="502920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Architecture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alibri"/>
              </a:rPr>
              <a:t>Presentation: Spring MVC controllers + Thymeleaf templates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Business: @Service classes with @Transactional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Data: Spring Data JPA repositories + Hibernate ORM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Database: File-backed H2 with Flyway migrations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Security: Spring Security filter chain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Scheduling: Document expiry reminder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Module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Functional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105156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User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com.vahanalerts.user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Calibri"/>
              </a:rPr>
              <a:t>Registration, authentication, WhatsApp consent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394960" cy="141732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Vehicle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com.vahanalerts.vehicle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3716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Calibri"/>
              </a:rPr>
              <a:t>Vehicle CRUD, owner-scoped access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B740CDC-DF14-DBDA-372F-DCB2A36ED816}"/>
              </a:ext>
            </a:extLst>
          </p:cNvPr>
          <p:cNvGrpSpPr/>
          <p:nvPr/>
        </p:nvGrpSpPr>
        <p:grpSpPr>
          <a:xfrm>
            <a:off x="457200" y="2674620"/>
            <a:ext cx="5394960" cy="914400"/>
            <a:chOff x="457200" y="2880360"/>
            <a:chExt cx="5394960" cy="914400"/>
          </a:xfrm>
        </p:grpSpPr>
        <p:sp>
          <p:nvSpPr>
            <p:cNvPr id="14" name="Rectangle 13"/>
            <p:cNvSpPr/>
            <p:nvPr/>
          </p:nvSpPr>
          <p:spPr>
            <a:xfrm>
              <a:off x="457200" y="2880360"/>
              <a:ext cx="5394960" cy="914400"/>
            </a:xfrm>
            <a:prstGeom prst="rect">
              <a:avLst/>
            </a:prstGeom>
            <a:solidFill>
              <a:srgbClr val="F0F4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0080" y="2971800"/>
              <a:ext cx="20116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>
                  <a:solidFill>
                    <a:srgbClr val="1F3864"/>
                  </a:solidFill>
                  <a:latin typeface="Calibri"/>
                </a:rPr>
                <a:t>Document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0080" y="3337560"/>
              <a:ext cx="201168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646464"/>
                  </a:solidFill>
                  <a:latin typeface="Calibri"/>
                </a:rPr>
                <a:t>com.vahanalerts.document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834640" y="2683764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282828"/>
                </a:solidFill>
                <a:latin typeface="Calibri"/>
              </a:rPr>
              <a:t>Document lifecycle, expiry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880360"/>
            <a:ext cx="5394960" cy="141732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com.vahanalerts.maintenance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71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Calibri"/>
              </a:rPr>
              <a:t>Service history, odometer validation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83A4CF-54D7-B18C-2B44-EE4629D7EB1A}"/>
              </a:ext>
            </a:extLst>
          </p:cNvPr>
          <p:cNvGrpSpPr/>
          <p:nvPr/>
        </p:nvGrpSpPr>
        <p:grpSpPr>
          <a:xfrm>
            <a:off x="457200" y="3758184"/>
            <a:ext cx="5394960" cy="1280160"/>
            <a:chOff x="457200" y="4480560"/>
            <a:chExt cx="5394960" cy="1280160"/>
          </a:xfrm>
        </p:grpSpPr>
        <p:sp>
          <p:nvSpPr>
            <p:cNvPr id="22" name="Rectangle 21"/>
            <p:cNvSpPr/>
            <p:nvPr/>
          </p:nvSpPr>
          <p:spPr>
            <a:xfrm>
              <a:off x="457200" y="4480560"/>
              <a:ext cx="5394960" cy="882396"/>
            </a:xfrm>
            <a:prstGeom prst="rect">
              <a:avLst/>
            </a:prstGeom>
            <a:solidFill>
              <a:srgbClr val="F0F4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0080" y="4572000"/>
              <a:ext cx="20116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>
                  <a:solidFill>
                    <a:srgbClr val="1F3864"/>
                  </a:solidFill>
                  <a:latin typeface="Calibri"/>
                </a:rPr>
                <a:t>Notification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0080" y="4937760"/>
              <a:ext cx="201168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646464"/>
                  </a:solidFill>
                  <a:latin typeface="Calibri"/>
                </a:rPr>
                <a:t>com.vahanalerts.notification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834640" y="4572000"/>
              <a:ext cx="2926080" cy="1188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82828"/>
                  </a:solidFill>
                  <a:latin typeface="Calibri"/>
                </a:rPr>
                <a:t>Reminder generation, notification centre</a:t>
              </a:r>
            </a:p>
          </p:txBody>
        </p:sp>
      </p:grpSp>
      <p:sp>
        <p:nvSpPr>
          <p:cNvPr id="26" name="Rectangle 25"/>
          <p:cNvSpPr/>
          <p:nvPr/>
        </p:nvSpPr>
        <p:spPr>
          <a:xfrm>
            <a:off x="6126480" y="4480560"/>
            <a:ext cx="5394960" cy="141732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Controller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com.vahanalerts.controller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5720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Calibri"/>
              </a:rPr>
              <a:t>HTTP routing, Thymeleaf views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62223AB-6BE8-61A9-1F0B-818C5020C6B8}"/>
              </a:ext>
            </a:extLst>
          </p:cNvPr>
          <p:cNvGrpSpPr/>
          <p:nvPr/>
        </p:nvGrpSpPr>
        <p:grpSpPr>
          <a:xfrm>
            <a:off x="365760" y="4823460"/>
            <a:ext cx="5394960" cy="1417320"/>
            <a:chOff x="457200" y="6080760"/>
            <a:chExt cx="5394960" cy="1417320"/>
          </a:xfrm>
        </p:grpSpPr>
        <p:sp>
          <p:nvSpPr>
            <p:cNvPr id="30" name="Rectangle 29"/>
            <p:cNvSpPr/>
            <p:nvPr/>
          </p:nvSpPr>
          <p:spPr>
            <a:xfrm>
              <a:off x="457200" y="6080760"/>
              <a:ext cx="5394960" cy="1417320"/>
            </a:xfrm>
            <a:prstGeom prst="rect">
              <a:avLst/>
            </a:prstGeom>
            <a:solidFill>
              <a:srgbClr val="F0F4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0080" y="6172200"/>
              <a:ext cx="20116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>
                  <a:solidFill>
                    <a:srgbClr val="1F3864"/>
                  </a:solidFill>
                  <a:latin typeface="Calibri"/>
                </a:rPr>
                <a:t>Configuration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0080" y="6537960"/>
              <a:ext cx="201168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646464"/>
                  </a:solidFill>
                  <a:latin typeface="Calibri"/>
                </a:rPr>
                <a:t>com.vahanalerts.config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34640" y="6172200"/>
              <a:ext cx="2926080" cy="1188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82828"/>
                  </a:solidFill>
                  <a:latin typeface="Calibri"/>
                </a:rPr>
                <a:t>Security, time zone (Asia/Kolkata)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Calibri"/>
              </a:rPr>
              <a:t>Application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Registration/Login and Document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4-registration-login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394960" cy="4298772"/>
          </a:xfrm>
          <a:prstGeom prst="rect">
            <a:avLst/>
          </a:prstGeom>
        </p:spPr>
      </p:pic>
      <p:pic>
        <p:nvPicPr>
          <p:cNvPr id="7" name="Picture 6" descr="05-vehicle-document-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394960" cy="33973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Registration &amp; Login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864"/>
                </a:solidFill>
                <a:latin typeface="Calibri"/>
              </a:rPr>
              <a:t>Document Management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Entity relationships (Flyway V1–V7)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-entity-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45543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98079" y="1280160"/>
            <a:ext cx="4206240" cy="502920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1463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Core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92024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alibri"/>
              </a:rPr>
              <a:t>app_user — Registered users (phone_number unique)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vehicle — Owner's vehicles (registration unique per owner)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vehicle_document — Documents linked to vehicles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vehicle_maintenance_record — Service history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in_app_notification — Expiry reminders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Security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Protecting user data and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8-application-class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38450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280160"/>
            <a:ext cx="5486400" cy="502920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Security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alibri"/>
              </a:rPr>
              <a:t>Phone-number-based authentication with Spring Security form login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BCrypt password hashing (72-byte UTF-8 limit enforced)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CSRF protection on all state-changing POST requests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Session fixation protection (change session ID on login)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HTTP-only and SameSite=Lax session cookies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30-minute session timeout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Owner-scoped data access (no cross-user entity access)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Error responses exclude stack traces and binding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DCF0"/>
                </a:solidFill>
                <a:latin typeface="Calibri"/>
              </a:rPr>
              <a:t>Current gaps and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Limitations: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alibri"/>
              </a:rPr>
              <a:t>No real WhatsApp/email/SMS delivery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No file upload/download for attachments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No government database integration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Single role (ROLE_USER)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No OAuth/social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Future Enhancements: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Calibri"/>
              </a:rPr>
              <a:t>WhatsApp Business API / SMS integration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Document file upload and download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Role-based access control (ADMIN/USER)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PWA or native mobile app</a:t>
            </a:r>
          </a:p>
          <a:p>
            <a:r>
              <a:rPr sz="1200">
                <a:solidFill>
                  <a:srgbClr val="282828"/>
                </a:solidFill>
                <a:latin typeface="Calibri"/>
              </a:rPr>
              <a:t>Government vehicle API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82828"/>
                </a:solidFill>
                <a:latin typeface="Calibri"/>
              </a:rPr>
              <a:t>Prevents missed document renewals and legal penalties</a:t>
            </a:r>
          </a:p>
          <a:p>
            <a:r>
              <a:rPr sz="1300">
                <a:solidFill>
                  <a:srgbClr val="282828"/>
                </a:solidFill>
                <a:latin typeface="Calibri"/>
              </a:rPr>
              <a:t>Centralizes vehicle documentation for individual owners</a:t>
            </a:r>
          </a:p>
          <a:p>
            <a:r>
              <a:rPr sz="1300">
                <a:solidFill>
                  <a:srgbClr val="282828"/>
                </a:solidFill>
                <a:latin typeface="Calibri"/>
              </a:rPr>
              <a:t>Automated reminders reduce manual tracking burden</a:t>
            </a:r>
          </a:p>
          <a:p>
            <a:r>
              <a:rPr sz="1300">
                <a:solidFill>
                  <a:srgbClr val="282828"/>
                </a:solidFill>
                <a:latin typeface="Calibri"/>
              </a:rPr>
              <a:t>Secure, owner-scoped data access protects privacy</a:t>
            </a:r>
          </a:p>
          <a:p>
            <a:r>
              <a:rPr sz="1300">
                <a:solidFill>
                  <a:srgbClr val="282828"/>
                </a:solidFill>
                <a:latin typeface="Calibri"/>
              </a:rPr>
              <a:t>Well-tested (56 passing tests) ensures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878"/>
                </a:solidFill>
                <a:latin typeface="Calibri"/>
              </a:rPr>
              <a:t>Vahan Alerts —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8787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CE6F0"/>
                </a:solidFill>
                <a:latin typeface="Calibri"/>
              </a:rPr>
              <a:t>Vahan Alerts delivers a practical, secure, and well-tested solution for personal vehicle document and maintenance tracking. Automated expiry status calculation and scheduled in-app reminders address the core problem of missed renewals. Built on Spring Boot with industry-standard security practices and validated by 56 passing tests, it provides a solid foundation for vehicle owners to manage their documentation proactively.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8C00"/>
                </a:solidFill>
                <a:latin typeface="Calibri"/>
              </a:rPr>
              <a:t>Thank You</a:t>
            </a:r>
          </a:p>
          <a:p>
            <a:pPr algn="ctr"/>
            <a:r>
              <a:rPr sz="2000" b="1">
                <a:solidFill>
                  <a:srgbClr val="FF8C00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1026</Words>
  <Application>Microsoft Office PowerPoint</Application>
  <PresentationFormat>Widescreen</PresentationFormat>
  <Paragraphs>187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Maiandra GD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 Sharma</cp:lastModifiedBy>
  <cp:revision>4</cp:revision>
  <dcterms:created xsi:type="dcterms:W3CDTF">2013-01-27T09:14:16Z</dcterms:created>
  <dcterms:modified xsi:type="dcterms:W3CDTF">2026-10-29T14:35:41Z</dcterms:modified>
  <cp:category/>
</cp:coreProperties>
</file>